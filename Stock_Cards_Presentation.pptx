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3B82F6"/>
                </a:solidFill>
              </a:defRPr>
            </a:pPr>
            <a:r>
              <a:t>STOCK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F2937"/>
                </a:solidFill>
              </a:defRPr>
            </a:pPr>
            <a:r>
              <a:t>Your Personal Stock Organization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0B981"/>
                </a:solidFill>
              </a:defRPr>
            </a:pPr>
            <a:r>
              <a:t>📈 From Spreadsheet Chaos to Visual Clarity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F2937"/>
                </a:solidFill>
              </a:defRPr>
            </a:pPr>
            <a:r>
              <a:t>Alikhan</a:t>
            </a:r>
          </a:p>
          <a:p>
            <a:r>
              <a:t>INFO Semester Project • December 2025</a:t>
            </a:r>
          </a:p>
          <a:p/>
          <a:p>
            <a:r>
              <a:t>github.com/AlikhanIllini/Final_Project_Alikhan_alikhan4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188720"/>
            <a:ext cx="91440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0"/>
              </a:spcBef>
              <a:defRPr sz="3600">
                <a:solidFill>
                  <a:srgbClr val="1F2937"/>
                </a:solidFill>
              </a:defRPr>
            </a:pPr>
            <a:r>
              <a:t>📊  Cluttered spreadsheets</a:t>
            </a:r>
          </a:p>
          <a:p>
            <a:pPr algn="l">
              <a:spcBef>
                <a:spcPts val="2000"/>
              </a:spcBef>
              <a:defRPr sz="3600">
                <a:solidFill>
                  <a:srgbClr val="1F2937"/>
                </a:solidFill>
              </a:defRPr>
            </a:pPr>
            <a:r>
              <a:t>🤯  Information overload</a:t>
            </a:r>
          </a:p>
          <a:p>
            <a:pPr algn="l">
              <a:spcBef>
                <a:spcPts val="2000"/>
              </a:spcBef>
              <a:defRPr sz="3600">
                <a:solidFill>
                  <a:srgbClr val="1F2937"/>
                </a:solidFill>
              </a:defRPr>
            </a:pPr>
            <a:r>
              <a:t>❌  No personalization</a:t>
            </a:r>
          </a:p>
          <a:p>
            <a:pPr algn="l">
              <a:spcBef>
                <a:spcPts val="2000"/>
              </a:spcBef>
              <a:defRPr sz="3600">
                <a:solidFill>
                  <a:srgbClr val="1F2937"/>
                </a:solidFill>
              </a:defRPr>
            </a:pPr>
            <a:r>
              <a:t>⚠️  Hard to prioritize what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F59E0B"/>
                </a:solidFill>
              </a:defRPr>
            </a:pPr>
            <a:r>
              <a:t>Who needs better?</a:t>
            </a:r>
          </a:p>
          <a:p>
            <a:r>
              <a:t>Students • Young investors • Professionals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STOCK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F2937"/>
                </a:solidFill>
              </a:defRPr>
            </a:pPr>
            <a:r>
              <a:t>A visual, card-based stock organizer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500"/>
              </a:spcBef>
              <a:defRPr sz="3200" b="1">
                <a:solidFill>
                  <a:srgbClr val="1F2937"/>
                </a:solidFill>
              </a:defRPr>
            </a:pPr>
            <a:r>
              <a:t>Each stock = One card with:</a:t>
            </a:r>
          </a:p>
          <a:p>
            <a:pPr algn="l">
              <a:spcBef>
                <a:spcPts val="1500"/>
              </a:spcBef>
              <a:defRPr sz="3000">
                <a:solidFill>
                  <a:srgbClr val="1F2937"/>
                </a:solidFill>
              </a:defRPr>
            </a:pPr>
            <a:r>
              <a:t>• Live prices 📊</a:t>
            </a:r>
          </a:p>
          <a:p>
            <a:pPr algn="l">
              <a:spcBef>
                <a:spcPts val="1500"/>
              </a:spcBef>
              <a:defRPr sz="3000">
                <a:solidFill>
                  <a:srgbClr val="1F2937"/>
                </a:solidFill>
              </a:defRPr>
            </a:pPr>
            <a:r>
              <a:t>• Your notes 📝</a:t>
            </a:r>
          </a:p>
          <a:p>
            <a:pPr algn="l">
              <a:spcBef>
                <a:spcPts val="1500"/>
              </a:spcBef>
              <a:defRPr sz="3000">
                <a:solidFill>
                  <a:srgbClr val="1F2937"/>
                </a:solidFill>
              </a:defRPr>
            </a:pPr>
            <a:r>
              <a:t>• Priority levels 🎯</a:t>
            </a:r>
          </a:p>
          <a:p>
            <a:pPr algn="l">
              <a:spcBef>
                <a:spcPts val="1500"/>
              </a:spcBef>
              <a:defRPr sz="3000">
                <a:solidFill>
                  <a:srgbClr val="1F2937"/>
                </a:solidFill>
              </a:defRPr>
            </a:pPr>
            <a:r>
              <a:t>• Custom tags 🏷️</a:t>
            </a:r>
          </a:p>
          <a:p>
            <a:pPr algn="l">
              <a:spcBef>
                <a:spcPts val="1500"/>
              </a:spcBef>
              <a:defRPr sz="3000">
                <a:solidFill>
                  <a:srgbClr val="1F2937"/>
                </a:solidFill>
              </a:defRPr>
            </a:pPr>
            <a:r>
              <a:t>• Price history 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i="1">
                <a:solidFill>
                  <a:srgbClr val="10B981"/>
                </a:solidFill>
              </a:defRPr>
            </a:pPr>
            <a:r>
              <a:t>"Think Trello for your stock watchlist"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000"/>
            </a:pPr>
            <a:r>
              <a:t>🔐</a:t>
            </a:r>
          </a:p>
          <a:p>
            <a:pPr>
              <a:spcAft>
                <a:spcPts val="300"/>
              </a:spcAft>
              <a:defRPr sz="2400" b="1">
                <a:solidFill>
                  <a:srgbClr val="1F2937"/>
                </a:solidFill>
              </a:defRPr>
            </a:pPr>
            <a:r>
              <a:t>Multi-User System</a:t>
            </a:r>
          </a:p>
          <a:p>
            <a:pPr>
              <a:defRPr sz="1800">
                <a:solidFill>
                  <a:srgbClr val="6B7280"/>
                </a:solidFill>
              </a:defRPr>
            </a:pPr>
            <a:r>
              <a:t>Secure • Private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000"/>
            </a:pPr>
            <a:r>
              <a:t>📊</a:t>
            </a:r>
          </a:p>
          <a:p>
            <a:pPr>
              <a:spcAft>
                <a:spcPts val="300"/>
              </a:spcAft>
              <a:defRPr sz="2400" b="1">
                <a:solidFill>
                  <a:srgbClr val="1F2937"/>
                </a:solidFill>
              </a:defRPr>
            </a:pPr>
            <a:r>
              <a:t>Live Stock Prices</a:t>
            </a:r>
          </a:p>
          <a:p>
            <a:pPr>
              <a:defRPr sz="1800">
                <a:solidFill>
                  <a:srgbClr val="6B7280"/>
                </a:solidFill>
              </a:defRPr>
            </a:pPr>
            <a:r>
              <a:t>Auto-fetch • Cached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000"/>
            </a:pPr>
            <a:r>
              <a:t>🏷️</a:t>
            </a:r>
          </a:p>
          <a:p>
            <a:pPr>
              <a:spcAft>
                <a:spcPts val="300"/>
              </a:spcAft>
              <a:defRPr sz="2400" b="1">
                <a:solidFill>
                  <a:srgbClr val="1F2937"/>
                </a:solidFill>
              </a:defRPr>
            </a:pPr>
            <a:r>
              <a:t>Smart Tagging</a:t>
            </a:r>
          </a:p>
          <a:p>
            <a:pPr>
              <a:defRPr sz="1800">
                <a:solidFill>
                  <a:srgbClr val="6B7280"/>
                </a:solidFill>
              </a:defRPr>
            </a:pPr>
            <a:r>
              <a:t>Color-coded • Custom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000"/>
            </a:pPr>
            <a:r>
              <a:t>🔍</a:t>
            </a:r>
          </a:p>
          <a:p>
            <a:pPr>
              <a:spcAft>
                <a:spcPts val="300"/>
              </a:spcAft>
              <a:defRPr sz="2400" b="1">
                <a:solidFill>
                  <a:srgbClr val="1F2937"/>
                </a:solidFill>
              </a:defRPr>
            </a:pPr>
            <a:r>
              <a:t>Powerful Filtering</a:t>
            </a:r>
          </a:p>
          <a:p>
            <a:pPr>
              <a:defRPr sz="1800">
                <a:solidFill>
                  <a:srgbClr val="6B7280"/>
                </a:solidFill>
              </a:defRPr>
            </a:pPr>
            <a:r>
              <a:t>Search • Sort •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657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000"/>
            </a:pPr>
            <a:r>
              <a:t>📈</a:t>
            </a:r>
          </a:p>
          <a:p>
            <a:pPr>
              <a:spcAft>
                <a:spcPts val="300"/>
              </a:spcAft>
              <a:defRPr sz="2400" b="1">
                <a:solidFill>
                  <a:srgbClr val="1F2937"/>
                </a:solidFill>
              </a:defRPr>
            </a:pPr>
            <a:r>
              <a:t>Price Intelligence</a:t>
            </a:r>
          </a:p>
          <a:p>
            <a:pPr>
              <a:defRPr sz="1800">
                <a:solidFill>
                  <a:srgbClr val="6B7280"/>
                </a:solidFill>
              </a:defRPr>
            </a:pPr>
            <a:r>
              <a:t>7-day/30-day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4864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000"/>
            </a:pPr>
            <a:r>
              <a:t>📧</a:t>
            </a:r>
          </a:p>
          <a:p>
            <a:pPr>
              <a:spcAft>
                <a:spcPts val="300"/>
              </a:spcAft>
              <a:defRPr sz="2400" b="1">
                <a:solidFill>
                  <a:srgbClr val="1F2937"/>
                </a:solidFill>
              </a:defRPr>
            </a:pPr>
            <a:r>
              <a:t>Weekly Digest</a:t>
            </a:r>
          </a:p>
          <a:p>
            <a:pPr>
              <a:defRPr sz="1800">
                <a:solidFill>
                  <a:srgbClr val="6B7280"/>
                </a:solidFill>
              </a:defRPr>
            </a:pPr>
            <a:r>
              <a:t>Email summaries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BUILT WITH DJANGO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F2937"/>
                </a:solidFill>
              </a:defRPr>
            </a:pPr>
            <a:r>
              <a:t>Deployed Live • 5 Data Models • RESTful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What I Built:</a:t>
            </a:r>
          </a:p>
          <a:p>
            <a:pPr>
              <a:spcBef>
                <a:spcPts val="1000"/>
              </a:spcBef>
              <a:defRPr sz="2200">
                <a:solidFill>
                  <a:srgbClr val="1F2937"/>
                </a:solidFill>
              </a:defRPr>
            </a:pPr>
            <a:r>
              <a:t>✓ User authentication</a:t>
            </a:r>
          </a:p>
          <a:p>
            <a:pPr>
              <a:spcBef>
                <a:spcPts val="1000"/>
              </a:spcBef>
              <a:defRPr sz="2200">
                <a:solidFill>
                  <a:srgbClr val="1F2937"/>
                </a:solidFill>
              </a:defRPr>
            </a:pPr>
            <a:r>
              <a:t>✓ Real-time price integration</a:t>
            </a:r>
          </a:p>
          <a:p>
            <a:pPr>
              <a:spcBef>
                <a:spcPts val="1000"/>
              </a:spcBef>
              <a:defRPr sz="2200">
                <a:solidFill>
                  <a:srgbClr val="1F2937"/>
                </a:solidFill>
              </a:defRPr>
            </a:pPr>
            <a:r>
              <a:t>✓ Database architecture</a:t>
            </a:r>
          </a:p>
          <a:p>
            <a:pPr>
              <a:spcBef>
                <a:spcPts val="1000"/>
              </a:spcBef>
              <a:defRPr sz="2200">
                <a:solidFill>
                  <a:srgbClr val="1F2937"/>
                </a:solidFill>
              </a:defRPr>
            </a:pPr>
            <a:r>
              <a:t>✓ Responsive interface</a:t>
            </a:r>
          </a:p>
          <a:p>
            <a:pPr>
              <a:spcBef>
                <a:spcPts val="1000"/>
              </a:spcBef>
              <a:defRPr sz="2200">
                <a:solidFill>
                  <a:srgbClr val="1F2937"/>
                </a:solidFill>
              </a:defRPr>
            </a:pPr>
            <a:r>
              <a:t>✓ Production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2860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Future Vision:</a:t>
            </a:r>
          </a:p>
          <a:p>
            <a:pPr>
              <a:spcBef>
                <a:spcPts val="1000"/>
              </a:spcBef>
              <a:defRPr sz="2200">
                <a:solidFill>
                  <a:srgbClr val="1F2937"/>
                </a:solidFill>
              </a:defRPr>
            </a:pPr>
            <a:r>
              <a:t>→ Interactive charts</a:t>
            </a:r>
          </a:p>
          <a:p>
            <a:pPr>
              <a:spcBef>
                <a:spcPts val="1000"/>
              </a:spcBef>
              <a:defRPr sz="2200">
                <a:solidFill>
                  <a:srgbClr val="1F2937"/>
                </a:solidFill>
              </a:defRPr>
            </a:pPr>
            <a:r>
              <a:t>→ Portfolio analytics</a:t>
            </a:r>
          </a:p>
          <a:p>
            <a:pPr>
              <a:spcBef>
                <a:spcPts val="1000"/>
              </a:spcBef>
              <a:defRPr sz="2200">
                <a:solidFill>
                  <a:srgbClr val="1F2937"/>
                </a:solidFill>
              </a:defRPr>
            </a:pPr>
            <a:r>
              <a:t>→ Real-time updates</a:t>
            </a:r>
          </a:p>
          <a:p>
            <a:pPr>
              <a:spcBef>
                <a:spcPts val="1000"/>
              </a:spcBef>
              <a:defRPr sz="2200">
                <a:solidFill>
                  <a:srgbClr val="1F2937"/>
                </a:solidFill>
              </a:defRPr>
            </a:pPr>
            <a:r>
              <a:t>→ Mobile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Alikhan | github.com/AlikhanIllini/Final_Project_Alikhan_alikhan4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2000"/>
              </a:spcBef>
              <a:defRPr sz="3200">
                <a:solidFill>
                  <a:srgbClr val="1F2937"/>
                </a:solidFill>
              </a:defRPr>
            </a:pPr>
            <a:r>
              <a:t>1. Dashboard with stock cards</a:t>
            </a:r>
          </a:p>
          <a:p>
            <a:pPr algn="l">
              <a:spcBef>
                <a:spcPts val="2000"/>
              </a:spcBef>
              <a:defRPr sz="3200">
                <a:solidFill>
                  <a:srgbClr val="1F2937"/>
                </a:solidFill>
              </a:defRPr>
            </a:pPr>
            <a:r>
              <a:t>2. Create new stock (NVDA)</a:t>
            </a:r>
          </a:p>
          <a:p>
            <a:pPr algn="l">
              <a:spcBef>
                <a:spcPts val="2000"/>
              </a:spcBef>
              <a:defRPr sz="3200">
                <a:solidFill>
                  <a:srgbClr val="1F2937"/>
                </a:solidFill>
              </a:defRPr>
            </a:pPr>
            <a:r>
              <a:t>3. View card details &amp; price history</a:t>
            </a:r>
          </a:p>
          <a:p>
            <a:pPr algn="l">
              <a:spcBef>
                <a:spcPts val="2000"/>
              </a:spcBef>
              <a:defRPr sz="3200">
                <a:solidFill>
                  <a:srgbClr val="1F2937"/>
                </a:solidFill>
              </a:defRPr>
            </a:pPr>
            <a:r>
              <a:t>4. Tag management</a:t>
            </a:r>
          </a:p>
          <a:p>
            <a:pPr algn="l">
              <a:spcBef>
                <a:spcPts val="2000"/>
              </a:spcBef>
              <a:defRPr sz="3200">
                <a:solidFill>
                  <a:srgbClr val="1F2937"/>
                </a:solidFill>
              </a:defRPr>
            </a:pPr>
            <a:r>
              <a:t>5. Filters &amp; 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EF4444"/>
                </a:solidFill>
              </a:defRPr>
            </a:pPr>
            <a:r>
              <a:t>(Use this slide only if live demo fails - otherwise skip to live demo)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